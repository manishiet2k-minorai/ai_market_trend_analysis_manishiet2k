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charts/chart2.xml" ContentType="application/vnd.openxmlformats-officedocument.drawingml.chart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8" r:id="rId4"/>
    <p:sldId id="270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macd_signal</c:v>
                </c:pt>
                <c:pt idx="1">
                  <c:v>macd</c:v>
                </c:pt>
                <c:pt idx="2">
                  <c:v>close_sma50</c:v>
                </c:pt>
                <c:pt idx="3">
                  <c:v>close_sma200</c:v>
                </c:pt>
                <c:pt idx="4">
                  <c:v>vol_20</c:v>
                </c:pt>
                <c:pt idx="5">
                  <c:v>vol_10</c:v>
                </c:pt>
                <c:pt idx="6">
                  <c:v>rsi_14</c:v>
                </c:pt>
                <c:pt idx="7">
                  <c:v>close_sma20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0.35767142360113213</c:v>
                </c:pt>
                <c:pt idx="1">
                  <c:v>0.2282371283899611</c:v>
                </c:pt>
                <c:pt idx="2">
                  <c:v>0.17890478160015766</c:v>
                </c:pt>
                <c:pt idx="3">
                  <c:v>6.0379628971645442E-2</c:v>
                </c:pt>
                <c:pt idx="4">
                  <c:v>3.7287972412656058E-2</c:v>
                </c:pt>
                <c:pt idx="5">
                  <c:v>3.1456616662350383E-2</c:v>
                </c:pt>
                <c:pt idx="6">
                  <c:v>2.2348438234096428E-2</c:v>
                </c:pt>
                <c:pt idx="7">
                  <c:v>2.1013379321691918E-2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826-4F48-A938-FA64B1044D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Model</c:v>
                </c:pt>
              </c:strCache>
            </c:strRef>
          </c:tx>
          <c:spPr>
            <a:ln w="25400" cap="flat">
              <a:solidFill>
                <a:srgbClr val="C050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0504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strRef>
              <c:f>Sheet1!$A$2:$A$21</c:f>
              <c:strCache>
                <c:ptCount val="20"/>
                <c:pt idx="0">
                  <c:v>0.00</c:v>
                </c:pt>
                <c:pt idx="1">
                  <c:v>0.00</c:v>
                </c:pt>
                <c:pt idx="2">
                  <c:v>0.00</c:v>
                </c:pt>
                <c:pt idx="3">
                  <c:v>0.00</c:v>
                </c:pt>
                <c:pt idx="4">
                  <c:v>0.00</c:v>
                </c:pt>
                <c:pt idx="5">
                  <c:v>0.00</c:v>
                </c:pt>
                <c:pt idx="6">
                  <c:v>0.00</c:v>
                </c:pt>
                <c:pt idx="7">
                  <c:v>0.01</c:v>
                </c:pt>
                <c:pt idx="8">
                  <c:v>0.02</c:v>
                </c:pt>
                <c:pt idx="9">
                  <c:v>0.03</c:v>
                </c:pt>
                <c:pt idx="10">
                  <c:v>0.03</c:v>
                </c:pt>
                <c:pt idx="11">
                  <c:v>0.04</c:v>
                </c:pt>
                <c:pt idx="12">
                  <c:v>0.05</c:v>
                </c:pt>
                <c:pt idx="13">
                  <c:v>0.08</c:v>
                </c:pt>
                <c:pt idx="14">
                  <c:v>0.09</c:v>
                </c:pt>
                <c:pt idx="15">
                  <c:v>0.12</c:v>
                </c:pt>
                <c:pt idx="16">
                  <c:v>0.14</c:v>
                </c:pt>
                <c:pt idx="17">
                  <c:v>0.18</c:v>
                </c:pt>
                <c:pt idx="18">
                  <c:v>0.20</c:v>
                </c:pt>
                <c:pt idx="19">
                  <c:v>1.00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0</c:v>
                </c:pt>
                <c:pt idx="1">
                  <c:v>6.9892473118279563E-2</c:v>
                </c:pt>
                <c:pt idx="2">
                  <c:v>9.6774193548387094E-2</c:v>
                </c:pt>
                <c:pt idx="3">
                  <c:v>0.12544802867383512</c:v>
                </c:pt>
                <c:pt idx="4">
                  <c:v>0.17741935483870969</c:v>
                </c:pt>
                <c:pt idx="5">
                  <c:v>0.22401433691756273</c:v>
                </c:pt>
                <c:pt idx="6">
                  <c:v>0.24910394265232974</c:v>
                </c:pt>
                <c:pt idx="7">
                  <c:v>0.93906810035842292</c:v>
                </c:pt>
                <c:pt idx="8">
                  <c:v>0.94086021505376349</c:v>
                </c:pt>
                <c:pt idx="9">
                  <c:v>0.95161290322580649</c:v>
                </c:pt>
                <c:pt idx="10">
                  <c:v>0.95878136200716846</c:v>
                </c:pt>
                <c:pt idx="11">
                  <c:v>0.967741935483871</c:v>
                </c:pt>
                <c:pt idx="12">
                  <c:v>0.97670250896057342</c:v>
                </c:pt>
                <c:pt idx="13">
                  <c:v>0.978494623655914</c:v>
                </c:pt>
                <c:pt idx="14">
                  <c:v>0.98566308243727596</c:v>
                </c:pt>
                <c:pt idx="15">
                  <c:v>0.989247311827957</c:v>
                </c:pt>
                <c:pt idx="16">
                  <c:v>0.99283154121863804</c:v>
                </c:pt>
                <c:pt idx="17">
                  <c:v>0.9946236559139785</c:v>
                </c:pt>
                <c:pt idx="18">
                  <c:v>0.99820788530465954</c:v>
                </c:pt>
                <c:pt idx="19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AD2-4D01-BC6E-8EC78F86175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Random</c:v>
                </c:pt>
              </c:strCache>
            </c:strRef>
          </c:tx>
          <c:spPr>
            <a:ln w="25400" cap="flat">
              <a:solidFill>
                <a:srgbClr val="4F81B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F81BD"/>
              </a:solidFill>
              <a:ln w="9525" cap="flat">
                <a:solidFill>
                  <a:srgbClr val="4F81BD"/>
                </a:solidFill>
                <a:prstDash val="solid"/>
                <a:round/>
              </a:ln>
              <a:effectLst/>
            </c:spPr>
          </c:marker>
          <c:cat>
            <c:strRef>
              <c:f>Sheet1!$A$2:$A$21</c:f>
              <c:strCache>
                <c:ptCount val="20"/>
                <c:pt idx="0">
                  <c:v>0.00</c:v>
                </c:pt>
                <c:pt idx="1">
                  <c:v>0.00</c:v>
                </c:pt>
                <c:pt idx="2">
                  <c:v>0.00</c:v>
                </c:pt>
                <c:pt idx="3">
                  <c:v>0.00</c:v>
                </c:pt>
                <c:pt idx="4">
                  <c:v>0.00</c:v>
                </c:pt>
                <c:pt idx="5">
                  <c:v>0.00</c:v>
                </c:pt>
                <c:pt idx="6">
                  <c:v>0.00</c:v>
                </c:pt>
                <c:pt idx="7">
                  <c:v>0.01</c:v>
                </c:pt>
                <c:pt idx="8">
                  <c:v>0.02</c:v>
                </c:pt>
                <c:pt idx="9">
                  <c:v>0.03</c:v>
                </c:pt>
                <c:pt idx="10">
                  <c:v>0.03</c:v>
                </c:pt>
                <c:pt idx="11">
                  <c:v>0.04</c:v>
                </c:pt>
                <c:pt idx="12">
                  <c:v>0.05</c:v>
                </c:pt>
                <c:pt idx="13">
                  <c:v>0.08</c:v>
                </c:pt>
                <c:pt idx="14">
                  <c:v>0.09</c:v>
                </c:pt>
                <c:pt idx="15">
                  <c:v>0.12</c:v>
                </c:pt>
                <c:pt idx="16">
                  <c:v>0.14</c:v>
                </c:pt>
                <c:pt idx="17">
                  <c:v>0.18</c:v>
                </c:pt>
                <c:pt idx="18">
                  <c:v>0.20</c:v>
                </c:pt>
                <c:pt idx="19">
                  <c:v>1.00</c:v>
                </c:pt>
              </c:strCache>
            </c: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5.235602094240838E-3</c:v>
                </c:pt>
                <c:pt idx="8">
                  <c:v>1.5706806282722512E-2</c:v>
                </c:pt>
                <c:pt idx="9">
                  <c:v>2.6178010471204188E-2</c:v>
                </c:pt>
                <c:pt idx="10">
                  <c:v>3.1413612565445025E-2</c:v>
                </c:pt>
                <c:pt idx="11">
                  <c:v>4.1884816753926704E-2</c:v>
                </c:pt>
                <c:pt idx="12">
                  <c:v>4.712041884816754E-2</c:v>
                </c:pt>
                <c:pt idx="13">
                  <c:v>7.8534031413612565E-2</c:v>
                </c:pt>
                <c:pt idx="14">
                  <c:v>8.9005235602094238E-2</c:v>
                </c:pt>
                <c:pt idx="15">
                  <c:v>0.11518324607329843</c:v>
                </c:pt>
                <c:pt idx="16">
                  <c:v>0.14136125654450263</c:v>
                </c:pt>
                <c:pt idx="17">
                  <c:v>0.18324607329842932</c:v>
                </c:pt>
                <c:pt idx="18">
                  <c:v>0.20418848167539266</c:v>
                </c:pt>
                <c:pt idx="19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AD2-4D01-BC6E-8EC78F8617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95162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https://stooq.com/q/d/l/?i=d&amp;s=%5Espx (data source link from Stooq)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https://stooq.com/q/d/?s=%5Espx (Stooq historical data page)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20649-80A7-A540-F101-1B1042DD5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970034-7451-5F1F-42C6-4D6392E181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5098B0-18FB-0ED4-317C-AA3C9F9108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https://stooq.com/q/d/?s=%5Espx (Stooq historical data page)
[/Sources]
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06FCC9-356D-7297-ED07-015F9AEA90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0929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89BA4-4FA4-35A7-37EB-A9DAC77CC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04AAD9-791D-DBF3-211F-3559BBDA4A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A5D8D0-B1E3-6436-2F2A-4D5C7686D2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https://stooq.com/q/d/?s=%5Espx (Stooq historical data page)
[/Sources]
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968B2E-C543-04DF-C8C4-F2792AD95F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7840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https://stooq.com/q/d/l/?i=d&amp;s=%5Espx (CSV download)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https://stooq.com/q/d/l/?i=d&amp;s=%5Espx (data)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https://www.investopedia.com/terms/r/rsi.asp (RSI definition)
- https://www.investopedia.com/terms/m/macd.asp (MACD definition)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https://scikit-learn.org/stable/modules/generated/sklearn.ensemble.RandomForestClassifier.html
- https://scikit-learn.org/stable/modules/generated/sklearn.model_selection.TimeSeriesSplit.html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https://stooq.com/q/d/l/?i=d&amp;s=%5Espx (data)
- https://scikit-learn.org/stable/modules/generated/sklearn.ensemble.RandomForestClassifier.html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https://stooq.com/q/d/l/?i=d&amp;s=%5Espx (data)
- https://scikit-learn.org/stable/modules/generated/sklearn.ensemble.RandomForestClassifier.html (feature importance available)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https://scikit-learn.org/stable/modules/generated/sklearn.model_selection.TimeSeriesSplit.html (time-series evaluation concept)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https://stooq.com/q/d/l/?i=d&amp;s=%5Espx
- https://scikit-learn.org/stable/modules/generated/sklearn.ensemble.RandomForestClassifier.html
- https://scikit-learn.org/stable/modules/generated/sklearn.model_selection.TimeSeriesSplit.html
- https://www.investopedia.com/terms/r/rsi.asp
- https://www.investopedia.com/terms/m/macd.asp
[/Sources]
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0B2E4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0292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Market Trend Analysis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77240" y="12344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Trend-Regime Prediction using Technical Indicators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2514600"/>
            <a:ext cx="1078992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97280" y="2788920"/>
            <a:ext cx="9966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S&amp;P 500 Index (Daily OHLCV)</a:t>
            </a:r>
            <a:endParaRPr lang="en-US" sz="1800" dirty="0"/>
          </a:p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Random Forest Classifier</a:t>
            </a:r>
            <a:endParaRPr lang="en-US" sz="1800" dirty="0"/>
          </a:p>
          <a:p>
            <a:pPr marL="254000" indent="-2540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Bullish vs Bearish regime (5 days ahead)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516636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/>
              <a:t>Presented by Manish Kumar Singh (iitrprai_24102019)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B2E4C"/>
          </a:solidFill>
          <a:ln w="12700">
            <a:solidFill>
              <a:srgbClr val="0B2E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Motivation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914400"/>
            <a:ext cx="53949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07899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0120" y="1554480"/>
            <a:ext cx="48463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Markets alternate between bullish and bearish regimes.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direction is noisy; trend regimes are more stable.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predict the trend regime 5 trading days ahead.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72200" y="914400"/>
            <a:ext cx="53949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0" y="107899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AI / ML?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92240" y="1554480"/>
            <a:ext cx="48463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many indicators (trend + momentum + volatility).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non-linear relationships better than fixed rules.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probabilities for decision support.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653796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 AI for Market Trend Analysis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575D5-2E6A-B907-68E4-D0FF004E7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014599E-058D-3963-225D-647E5648F523}"/>
              </a:ext>
            </a:extLst>
          </p:cNvPr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B2E4C"/>
          </a:solidFill>
          <a:ln w="12700">
            <a:solidFill>
              <a:srgbClr val="0B2E4C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EB88CA4-7F1E-7DD6-69FB-306B188ED641}"/>
              </a:ext>
            </a:extLst>
          </p:cNvPr>
          <p:cNvSpPr/>
          <p:nvPr/>
        </p:nvSpPr>
        <p:spPr>
          <a:xfrm>
            <a:off x="548640" y="128016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IN" b="1" dirty="0">
              <a:solidFill>
                <a:schemeClr val="bg1"/>
              </a:solidFill>
            </a:endParaRPr>
          </a:p>
          <a:p>
            <a:r>
              <a:rPr lang="en-IN" b="1" dirty="0">
                <a:solidFill>
                  <a:schemeClr val="bg1"/>
                </a:solidFill>
              </a:rPr>
              <a:t>System Design (End-to-End Pipel</a:t>
            </a:r>
            <a:r>
              <a:rPr lang="en-IN" b="1" dirty="0">
                <a:solidFill>
                  <a:schemeClr val="bg1"/>
                </a:solidFill>
                <a:ea typeface="Calibri" pitchFamily="34" charset="-122"/>
                <a:cs typeface="Calibri" pitchFamily="34" charset="-120"/>
              </a:rPr>
              <a:t>ine</a:t>
            </a:r>
            <a:r>
              <a:rPr lang="en-IN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)</a:t>
            </a:r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B3E4C5B6-76CA-15BD-B7FC-B55BFE655B9D}"/>
              </a:ext>
            </a:extLst>
          </p:cNvPr>
          <p:cNvSpPr/>
          <p:nvPr/>
        </p:nvSpPr>
        <p:spPr>
          <a:xfrm>
            <a:off x="548640" y="653796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 AI for Market Trend Analysis</a:t>
            </a:r>
            <a:endParaRPr lang="en-US" sz="1000" dirty="0"/>
          </a:p>
        </p:txBody>
      </p:sp>
      <p:sp>
        <p:nvSpPr>
          <p:cNvPr id="11" name="Rounded Rectangle 2">
            <a:extLst>
              <a:ext uri="{FF2B5EF4-FFF2-40B4-BE49-F238E27FC236}">
                <a16:creationId xmlns:a16="http://schemas.microsoft.com/office/drawing/2014/main" id="{90BA532A-15AB-EDF4-F961-12603EC2FF7D}"/>
              </a:ext>
            </a:extLst>
          </p:cNvPr>
          <p:cNvSpPr/>
          <p:nvPr/>
        </p:nvSpPr>
        <p:spPr>
          <a:xfrm>
            <a:off x="204395" y="2011680"/>
            <a:ext cx="2103120" cy="1371600"/>
          </a:xfrm>
          <a:prstGeom prst="roundRect">
            <a:avLst/>
          </a:prstGeom>
          <a:solidFill>
            <a:srgbClr val="E8F0FE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rPr dirty="0">
                <a:solidFill>
                  <a:schemeClr val="tx1"/>
                </a:solidFill>
              </a:rPr>
              <a:t>Input Dataset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(spx_daily.csv)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OHLCV</a:t>
            </a:r>
          </a:p>
        </p:txBody>
      </p:sp>
      <p:sp>
        <p:nvSpPr>
          <p:cNvPr id="12" name="Right Arrow 3">
            <a:extLst>
              <a:ext uri="{FF2B5EF4-FFF2-40B4-BE49-F238E27FC236}">
                <a16:creationId xmlns:a16="http://schemas.microsoft.com/office/drawing/2014/main" id="{329A9989-6948-7164-543E-14A5BD4E82BD}"/>
              </a:ext>
            </a:extLst>
          </p:cNvPr>
          <p:cNvSpPr/>
          <p:nvPr/>
        </p:nvSpPr>
        <p:spPr>
          <a:xfrm>
            <a:off x="2307515" y="2514600"/>
            <a:ext cx="320040" cy="502920"/>
          </a:xfrm>
          <a:prstGeom prst="rightArrow">
            <a:avLst/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4">
            <a:extLst>
              <a:ext uri="{FF2B5EF4-FFF2-40B4-BE49-F238E27FC236}">
                <a16:creationId xmlns:a16="http://schemas.microsoft.com/office/drawing/2014/main" id="{2382041B-22C8-69DF-95BB-8AE0D8AA4CA7}"/>
              </a:ext>
            </a:extLst>
          </p:cNvPr>
          <p:cNvSpPr/>
          <p:nvPr/>
        </p:nvSpPr>
        <p:spPr>
          <a:xfrm>
            <a:off x="2627555" y="2011680"/>
            <a:ext cx="2103120" cy="1371600"/>
          </a:xfrm>
          <a:prstGeom prst="roundRect">
            <a:avLst/>
          </a:prstGeom>
          <a:solidFill>
            <a:srgbClr val="E6FFFB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rPr dirty="0">
                <a:solidFill>
                  <a:schemeClr val="tx1"/>
                </a:solidFill>
              </a:rPr>
              <a:t>Feature Engineering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SMA, RSI, MACD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Returns/Volatility</a:t>
            </a:r>
          </a:p>
        </p:txBody>
      </p:sp>
      <p:sp>
        <p:nvSpPr>
          <p:cNvPr id="14" name="Right Arrow 5">
            <a:extLst>
              <a:ext uri="{FF2B5EF4-FFF2-40B4-BE49-F238E27FC236}">
                <a16:creationId xmlns:a16="http://schemas.microsoft.com/office/drawing/2014/main" id="{AF4EC953-F5A4-F9A3-1B38-1A54B4BDCD06}"/>
              </a:ext>
            </a:extLst>
          </p:cNvPr>
          <p:cNvSpPr/>
          <p:nvPr/>
        </p:nvSpPr>
        <p:spPr>
          <a:xfrm>
            <a:off x="4730675" y="2514600"/>
            <a:ext cx="320040" cy="502920"/>
          </a:xfrm>
          <a:prstGeom prst="rightArrow">
            <a:avLst/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6">
            <a:extLst>
              <a:ext uri="{FF2B5EF4-FFF2-40B4-BE49-F238E27FC236}">
                <a16:creationId xmlns:a16="http://schemas.microsoft.com/office/drawing/2014/main" id="{CEC0323F-A4B3-93FF-345E-BDD1EE02B101}"/>
              </a:ext>
            </a:extLst>
          </p:cNvPr>
          <p:cNvSpPr/>
          <p:nvPr/>
        </p:nvSpPr>
        <p:spPr>
          <a:xfrm>
            <a:off x="5050715" y="2011680"/>
            <a:ext cx="2103120" cy="1371600"/>
          </a:xfrm>
          <a:prstGeom prst="roundRect">
            <a:avLst/>
          </a:prstGeom>
          <a:solidFill>
            <a:srgbClr val="E8F0FE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rPr dirty="0">
                <a:solidFill>
                  <a:schemeClr val="tx1"/>
                </a:solidFill>
              </a:rPr>
              <a:t>Model Training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Random Forest</a:t>
            </a:r>
            <a:br>
              <a:rPr dirty="0">
                <a:solidFill>
                  <a:schemeClr val="tx1"/>
                </a:solidFill>
              </a:rPr>
            </a:br>
            <a:r>
              <a:rPr dirty="0" err="1">
                <a:solidFill>
                  <a:schemeClr val="tx1"/>
                </a:solidFill>
              </a:rPr>
              <a:t>TimeSeriesSplit</a:t>
            </a:r>
            <a:r>
              <a:rPr dirty="0">
                <a:solidFill>
                  <a:schemeClr val="tx1"/>
                </a:solidFill>
              </a:rPr>
              <a:t> CV</a:t>
            </a:r>
          </a:p>
        </p:txBody>
      </p:sp>
      <p:sp>
        <p:nvSpPr>
          <p:cNvPr id="16" name="Right Arrow 7">
            <a:extLst>
              <a:ext uri="{FF2B5EF4-FFF2-40B4-BE49-F238E27FC236}">
                <a16:creationId xmlns:a16="http://schemas.microsoft.com/office/drawing/2014/main" id="{2EF7228A-B3BD-7623-7E77-A63E4758E54C}"/>
              </a:ext>
            </a:extLst>
          </p:cNvPr>
          <p:cNvSpPr/>
          <p:nvPr/>
        </p:nvSpPr>
        <p:spPr>
          <a:xfrm>
            <a:off x="7153835" y="2514600"/>
            <a:ext cx="320040" cy="502920"/>
          </a:xfrm>
          <a:prstGeom prst="rightArrow">
            <a:avLst/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8">
            <a:extLst>
              <a:ext uri="{FF2B5EF4-FFF2-40B4-BE49-F238E27FC236}">
                <a16:creationId xmlns:a16="http://schemas.microsoft.com/office/drawing/2014/main" id="{21F77E85-A5E4-8575-EF5E-39D7427F1C5B}"/>
              </a:ext>
            </a:extLst>
          </p:cNvPr>
          <p:cNvSpPr/>
          <p:nvPr/>
        </p:nvSpPr>
        <p:spPr>
          <a:xfrm>
            <a:off x="7473875" y="2011680"/>
            <a:ext cx="2103120" cy="1371600"/>
          </a:xfrm>
          <a:prstGeom prst="roundRect">
            <a:avLst/>
          </a:prstGeom>
          <a:solidFill>
            <a:srgbClr val="E6FFFB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rPr dirty="0">
                <a:solidFill>
                  <a:schemeClr val="tx1"/>
                </a:solidFill>
              </a:rPr>
              <a:t>Evaluation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Accuracy, ROC-AUC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Confusion Matrix</a:t>
            </a:r>
          </a:p>
        </p:txBody>
      </p:sp>
      <p:sp>
        <p:nvSpPr>
          <p:cNvPr id="18" name="Right Arrow 9">
            <a:extLst>
              <a:ext uri="{FF2B5EF4-FFF2-40B4-BE49-F238E27FC236}">
                <a16:creationId xmlns:a16="http://schemas.microsoft.com/office/drawing/2014/main" id="{231529B0-C049-810B-64F6-289213D8162B}"/>
              </a:ext>
            </a:extLst>
          </p:cNvPr>
          <p:cNvSpPr/>
          <p:nvPr/>
        </p:nvSpPr>
        <p:spPr>
          <a:xfrm>
            <a:off x="9576995" y="2514600"/>
            <a:ext cx="320040" cy="502920"/>
          </a:xfrm>
          <a:prstGeom prst="rightArrow">
            <a:avLst/>
          </a:prstGeom>
          <a:solidFill>
            <a:srgbClr val="0B1F3A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0">
            <a:extLst>
              <a:ext uri="{FF2B5EF4-FFF2-40B4-BE49-F238E27FC236}">
                <a16:creationId xmlns:a16="http://schemas.microsoft.com/office/drawing/2014/main" id="{934E7C32-16EB-BB92-1E89-13AB9D369E0B}"/>
              </a:ext>
            </a:extLst>
          </p:cNvPr>
          <p:cNvSpPr/>
          <p:nvPr/>
        </p:nvSpPr>
        <p:spPr>
          <a:xfrm>
            <a:off x="9897035" y="2011680"/>
            <a:ext cx="2103120" cy="1371600"/>
          </a:xfrm>
          <a:prstGeom prst="roundRect">
            <a:avLst/>
          </a:prstGeom>
          <a:solidFill>
            <a:srgbClr val="E8F0FE"/>
          </a:solidFill>
          <a:ln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rPr dirty="0">
                <a:solidFill>
                  <a:schemeClr val="tx1"/>
                </a:solidFill>
              </a:rPr>
              <a:t>Deployment</a:t>
            </a:r>
            <a:br>
              <a:rPr dirty="0">
                <a:solidFill>
                  <a:schemeClr val="tx1"/>
                </a:solidFill>
              </a:rPr>
            </a:br>
            <a:r>
              <a:rPr dirty="0" err="1">
                <a:solidFill>
                  <a:schemeClr val="tx1"/>
                </a:solidFill>
              </a:rPr>
              <a:t>Streamlit</a:t>
            </a:r>
            <a:r>
              <a:rPr dirty="0">
                <a:solidFill>
                  <a:schemeClr val="tx1"/>
                </a:solidFill>
              </a:rPr>
              <a:t> UI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Predict + Download</a:t>
            </a:r>
          </a:p>
        </p:txBody>
      </p:sp>
    </p:spTree>
    <p:extLst>
      <p:ext uri="{BB962C8B-B14F-4D97-AF65-F5344CB8AC3E}">
        <p14:creationId xmlns:p14="http://schemas.microsoft.com/office/powerpoint/2010/main" val="2281008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728ADF-2F08-942D-5F23-7F583F3A4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3C5CDDA-A3EE-8D59-EF2C-0E609C69C85D}"/>
              </a:ext>
            </a:extLst>
          </p:cNvPr>
          <p:cNvSpPr/>
          <p:nvPr/>
        </p:nvSpPr>
        <p:spPr>
          <a:xfrm>
            <a:off x="0" y="0"/>
            <a:ext cx="12191695" cy="493776"/>
          </a:xfrm>
          <a:prstGeom prst="rect">
            <a:avLst/>
          </a:prstGeom>
          <a:solidFill>
            <a:srgbClr val="0B2E4C"/>
          </a:solidFill>
          <a:ln w="12700">
            <a:solidFill>
              <a:srgbClr val="0B2E4C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B4FE939-0C0A-BA67-0DF4-AB0D22E4A1C0}"/>
              </a:ext>
            </a:extLst>
          </p:cNvPr>
          <p:cNvSpPr/>
          <p:nvPr/>
        </p:nvSpPr>
        <p:spPr>
          <a:xfrm>
            <a:off x="548640" y="128016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IN" b="1" dirty="0">
              <a:solidFill>
                <a:schemeClr val="bg1"/>
              </a:solidFill>
            </a:endParaRPr>
          </a:p>
          <a:p>
            <a:r>
              <a:rPr lang="en-IN" b="1" dirty="0">
                <a:solidFill>
                  <a:schemeClr val="bg1"/>
                </a:solidFill>
              </a:rPr>
              <a:t>Demo Snapshots (</a:t>
            </a:r>
            <a:r>
              <a:rPr lang="en-IN" b="1" dirty="0" err="1">
                <a:solidFill>
                  <a:schemeClr val="bg1"/>
                </a:solidFill>
              </a:rPr>
              <a:t>Streamlit</a:t>
            </a:r>
            <a:r>
              <a:rPr lang="en-IN" b="1" dirty="0">
                <a:solidFill>
                  <a:schemeClr val="bg1"/>
                </a:solidFill>
              </a:rPr>
              <a:t> UI)</a:t>
            </a:r>
            <a:endParaRPr lang="en-IN" b="1" dirty="0">
              <a:solidFill>
                <a:srgbClr val="FFFFFF"/>
              </a:solidFill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DFB627-5FE2-91ED-3992-A61A9E573F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548640"/>
            <a:ext cx="10287000" cy="624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5378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B2E4C"/>
          </a:solidFill>
          <a:ln w="12700">
            <a:solidFill>
              <a:srgbClr val="0B2E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Stooq (S&amp;P 500 index ^SPX) — daily OHLCV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3429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90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55448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used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1856232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2005-10-17 to 2025-12-26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43400" y="1417320"/>
            <a:ext cx="3429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90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0" y="155448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(processed)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0" y="1856232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5,081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955280" y="1417320"/>
            <a:ext cx="3429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90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183880" y="1554480"/>
            <a:ext cx="2971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183880" y="1856232"/>
            <a:ext cx="2971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Date, Open, High, Low, Close, Volume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1520" y="2788920"/>
            <a:ext cx="114300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905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60120" y="29260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rows (columns abbreviated)</a:t>
            </a:r>
            <a:endParaRPr lang="en-US" sz="1400" dirty="0"/>
          </a:p>
        </p:txBody>
      </p:sp>
      <p:pic>
        <p:nvPicPr>
          <p:cNvPr id="16" name="Image 0" descr="/mnt/data/sample_rows_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246120"/>
            <a:ext cx="11064240" cy="269748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548640" y="653796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Stooq | Index: ^SPX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B2E4C"/>
          </a:solidFill>
          <a:ln w="12700">
            <a:solidFill>
              <a:srgbClr val="0B2E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Definition (Label)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107899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905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114300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define a bullish regime using a moving-average crossover: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" y="1600200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Bullish(t) = 1 if SMA20(t) &gt; SMA50(t)  (else 0)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1560" y="214884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predict Bullish(t + 5 trading days)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3246120"/>
            <a:ext cx="53949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60120" y="341071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label?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51560" y="3886200"/>
            <a:ext cx="48463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Represents trend regime, not random daily noise.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 (common in technical analysis).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risk-on / risk-off decisions.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72200" y="3246120"/>
            <a:ext cx="53949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0" y="341071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note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3886200"/>
            <a:ext cx="48463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for educational analysis only.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financial advice; no trading/backtest included.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B2E4C"/>
          </a:solidFill>
          <a:ln w="12700">
            <a:solidFill>
              <a:srgbClr val="0B2E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53949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07899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/ Level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1554480"/>
            <a:ext cx="48463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vs SMA10 / SMA20 / SMA50 / SMA200 (normalized)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MACD line, signal line, histogram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72200" y="914400"/>
            <a:ext cx="53949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0" y="107899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 / Risk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92240" y="1554480"/>
            <a:ext cx="48463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Returns: 1d, 5d, 10d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Volatility: 10d, 20d rolling std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RSI (14)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change: 5d % change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74904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Indicators used in this project: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416052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RSI measures momentum; MACD uses EMAs (12, 26) with a 9-period signal line.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653796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indicators computed from price/volume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B2E4C"/>
          </a:solidFill>
          <a:ln w="12700">
            <a:solidFill>
              <a:srgbClr val="0B2E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&amp; Validation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53949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07899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1554480"/>
            <a:ext cx="48463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RandomForestClassifier (ensemble of decision trees)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non-linear patterns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feature importance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72200" y="914400"/>
            <a:ext cx="53949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0" y="107899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92240" y="1554480"/>
            <a:ext cx="48463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 split: train 2005–2022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2023–2025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TimeSeriesSplit CV to avoid leakage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3611880"/>
            <a:ext cx="1083564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524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05840" y="374904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416052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OHLCV → Indicators → Feature Matrix → Random Forest → Trend Regime Probability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B2E4C"/>
          </a:solidFill>
          <a:ln w="12700">
            <a:solidFill>
              <a:srgbClr val="0B2E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(Test Set: 2023–2025)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34290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524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09728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137160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0.996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389120" y="960120"/>
            <a:ext cx="34290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524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0" y="109728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0" y="137160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0.967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8046720" y="960120"/>
            <a:ext cx="34290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524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0" y="109728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0" y="137160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0.978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31520" y="2103120"/>
            <a:ext cx="34290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524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" y="224028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251460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0.970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389120" y="2103120"/>
            <a:ext cx="34290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524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0" y="224028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0" y="251460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0.986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731520" y="3246120"/>
            <a:ext cx="530352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524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60120" y="33832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60120" y="3675888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= true, cols = predicted</a:t>
            </a:r>
            <a:endParaRPr lang="en-US" sz="1200" dirty="0"/>
          </a:p>
        </p:txBody>
      </p:sp>
      <p:pic>
        <p:nvPicPr>
          <p:cNvPr id="22" name="Image 0" descr="/mnt/data/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3913632"/>
            <a:ext cx="4663440" cy="2057400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6172200" y="3246120"/>
            <a:ext cx="53949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6400800" y="341071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492240" y="3886200"/>
            <a:ext cx="48463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predicts trend regime reliably on test period.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errors occur near regime transitions.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used as trend/risk indicator (not exact price forecast).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B2E4C"/>
          </a:solidFill>
          <a:ln w="12700">
            <a:solidFill>
              <a:srgbClr val="0B2E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Interpretation: Feature Importance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drivers for predicting trend regime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1325880"/>
            <a:ext cx="1143000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5240" dir="2700000" algn="bl" rotWithShape="0">
              <a:srgbClr val="000000">
                <a:alpha val="8000"/>
              </a:srgbClr>
            </a:outerShdw>
          </a:effectLst>
        </p:spPr>
      </p:sp>
      <p:graphicFrame>
        <p:nvGraphicFramePr>
          <p:cNvPr id="6" name="Chart 0"/>
          <p:cNvGraphicFramePr/>
          <p:nvPr/>
        </p:nvGraphicFramePr>
        <p:xfrm>
          <a:off x="1005840" y="1600200"/>
          <a:ext cx="1088136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731520" y="635508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Interpretation: momentum/trend features (MACD, MA distances) dominate.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B2E4C"/>
          </a:solidFill>
          <a:ln w="12700">
            <a:solidFill>
              <a:srgbClr val="0B2E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Curve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1143000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524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115568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= 0.996 (higher is better)</a:t>
            </a:r>
            <a:endParaRPr lang="en-US" sz="16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1005840" y="1508760"/>
          <a:ext cx="1088136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B2E4C"/>
          </a:solidFill>
          <a:ln w="12700">
            <a:solidFill>
              <a:srgbClr val="0B2E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Learning, Conclusion &amp; Future Work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53949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0058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28700" y="1371600"/>
            <a:ext cx="484632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modeling requires leakage-safe validation (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TimeSeriesSplit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using indicators strongly impacts performance.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 train/test split mimics real future prediction.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 model with </a:t>
            </a:r>
            <a:r>
              <a:rPr lang="en-US" sz="14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joblib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enables easy deployment to UI.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 delivery improves usability and reproducibility.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54380" y="3749040"/>
            <a:ext cx="53949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51560" y="392923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1560" y="4411531"/>
            <a:ext cx="48463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Gradient Boosting (XGBoost/LightGBM).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news/sentiment or macro features.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 strategy with transaction costs.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multiple assets / sectors.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23299" y="3790188"/>
            <a:ext cx="539496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524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37960" y="3794759"/>
            <a:ext cx="4952076" cy="4814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(short)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0" y="420624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Stooq: ^SPX daily historical data</a:t>
            </a:r>
            <a:endParaRPr lang="en-US" sz="12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scikit-learn: RandomForestClassifier, TimeSeriesSplit</a:t>
            </a:r>
            <a:endParaRPr lang="en-US" sz="1200" dirty="0"/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Investopedia: RSI, MACD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653796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000" dirty="0"/>
          </a:p>
        </p:txBody>
      </p:sp>
      <p:sp>
        <p:nvSpPr>
          <p:cNvPr id="14" name="Shape 2">
            <a:extLst>
              <a:ext uri="{FF2B5EF4-FFF2-40B4-BE49-F238E27FC236}">
                <a16:creationId xmlns:a16="http://schemas.microsoft.com/office/drawing/2014/main" id="{45A94B61-4846-917C-9855-CF519CF49EEF}"/>
              </a:ext>
            </a:extLst>
          </p:cNvPr>
          <p:cNvSpPr/>
          <p:nvPr/>
        </p:nvSpPr>
        <p:spPr>
          <a:xfrm>
            <a:off x="6217920" y="950976"/>
            <a:ext cx="53949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6ECE622F-472E-3DF0-4F09-F09EC8AB6B14}"/>
              </a:ext>
            </a:extLst>
          </p:cNvPr>
          <p:cNvSpPr/>
          <p:nvPr/>
        </p:nvSpPr>
        <p:spPr>
          <a:xfrm>
            <a:off x="6446520" y="111556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0D98B96E-EA11-8EE0-9411-B24DFCE26EDE}"/>
              </a:ext>
            </a:extLst>
          </p:cNvPr>
          <p:cNvSpPr/>
          <p:nvPr/>
        </p:nvSpPr>
        <p:spPr>
          <a:xfrm>
            <a:off x="6537960" y="1591056"/>
            <a:ext cx="48463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 end-to-end trend analysis pipeline.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learns from technical indicators.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bullish/bearish regime 5 days ahead with strong test metrics.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1268</Words>
  <Application>Microsoft Office PowerPoint</Application>
  <PresentationFormat>Widescreen</PresentationFormat>
  <Paragraphs>137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Student</dc:creator>
  <cp:lastModifiedBy>e2knpman@gmail.com</cp:lastModifiedBy>
  <cp:revision>5</cp:revision>
  <dcterms:created xsi:type="dcterms:W3CDTF">2026-01-05T18:55:49Z</dcterms:created>
  <dcterms:modified xsi:type="dcterms:W3CDTF">2026-01-17T14:36:06Z</dcterms:modified>
</cp:coreProperties>
</file>